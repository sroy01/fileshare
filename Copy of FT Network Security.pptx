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84" d="100"/>
          <a:sy n="84" d="100"/>
        </p:scale>
        <p:origin x="81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6A7FEB-EB3B-4353-B72A-79CA8B8B74AD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2E00DB-1210-4F84-8AD3-2ED662FB3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336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56EDE-07A6-60FE-124D-59D89E3402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E7F609-4AB4-BDB3-E98A-AC87DBE0C0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64DE3-138B-5210-3AD0-C60BAED6D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9C72D-3F05-439E-9965-19102498F119}" type="datetime1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A9C962-B04E-5624-9488-CD1AF835F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Sohid,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3A5977-EDDD-9978-BA3A-2DC6CBEFB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0240B-E716-4E10-A723-CC22E07D0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941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CDED7-9F63-5F6D-4759-D0A3A7868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FF9F1-9C0C-E095-4DC5-8196F2EDD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8F8496-49A2-47DA-20FA-3540B5FB2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7EE45-8AA8-4D6E-B46C-D02B9C301928}" type="datetime1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733581-7549-B433-CC0C-93525EADB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Sohid,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D84C2-EAD2-EE44-07CC-03A0713B5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0240B-E716-4E10-A723-CC22E07D0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642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B13A7-4B09-DAE5-E71E-476D1769A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553B53-B5C6-8E21-8DA4-B9986C0DDB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4FC4A6-4FC1-C191-CBE3-143F306FD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48604-ABAC-4AF6-9D10-F7FA5E8A7083}" type="datetime1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9060F-9410-EE19-26A6-387211879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Sohid,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F86D7A-7348-BFD9-CAE0-AC1A36CD5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0240B-E716-4E10-A723-CC22E07D0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828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93402-1400-7802-6522-AE0692BA0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D97DF-C19B-D53C-516D-EA4304D92E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EA0655-10E1-7469-C5B7-6DFF5F9907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409CF5-F466-461D-A326-DCDB83F27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1AFE3-6844-41E5-8152-C0E7AE1E839D}" type="datetime1">
              <a:rPr lang="en-US" smtClean="0"/>
              <a:t>3/12/2025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91298B-888F-E9CF-EFE0-577AF37FD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Sohid,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0C22F5-C9CA-66F5-0BE6-879DA8246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0240B-E716-4E10-A723-CC22E07D0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869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BB2D8-4352-C4B0-4DD2-9B863ABA3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C30155-026A-55E9-C66B-15569E9E8D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2C73D3-52B2-D474-FA9C-DD4A7A45F2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DD7A79-A5D4-38F2-E6EB-AF8571692B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E0057A-4F02-A51B-154F-850CCBCF11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AFA77D-A1E6-45EE-C072-6B78B8EB7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130A-2598-431D-B87A-2BE0DFFCD85F}" type="datetime1">
              <a:rPr lang="en-US" smtClean="0"/>
              <a:t>3/12/2025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A77565-7CF8-AF37-25E9-70258EDC6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Sohid,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6C4F07-F7C9-95D4-C719-7F60760D5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0240B-E716-4E10-A723-CC22E07D0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730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64C5A-8826-6EF7-C193-D958BA53E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83C533-2675-8EFA-AC4F-03159BA2C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D62AA-0008-4A20-96DC-8FA109DA11C0}" type="datetime1">
              <a:rPr lang="en-US" smtClean="0"/>
              <a:t>3/12/2025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275EEE-24AF-F617-730D-D4338CC53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Sohid, CSE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15D411-5309-36BC-E7F2-3C7CBAB0D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0240B-E716-4E10-A723-CC22E07D0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160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3E5D0C-837B-4E78-700C-6FF5C1B05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3E580-9D77-45BB-828F-C74C778AF741}" type="datetime1">
              <a:rPr lang="en-US" smtClean="0"/>
              <a:t>3/12/2025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7BD98-614D-7DA9-C63D-BE4DFB2EB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Sohid,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1F3CF0-6AA6-7ADB-DAE3-F357FFC2F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0240B-E716-4E10-A723-CC22E07D0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777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8EC90-A3A4-E049-53F7-5A91AA6FB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BD740-AB93-927A-928B-819660D7A4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39786E-CC8B-F25F-FDBC-ADBBB5F41C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872BE9-EE11-5780-3DFB-BBBA6FD25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2CA0F-B60B-4307-A0E7-FE9692628C88}" type="datetime1">
              <a:rPr lang="en-US" smtClean="0"/>
              <a:t>3/12/2025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A81FBE-6C8B-9AC3-7829-6F725EA01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Sohid,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9F21F8-E37B-CEC3-03EE-12E0C2A6C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0240B-E716-4E10-A723-CC22E07D0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253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75AEC-A5AC-BAC9-A67B-0D67CA39B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0579DF-DFE9-0303-739A-5D6F6D05D9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786B90-F978-DBA6-E61F-6F3C75A898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8F9278-CE87-6104-90CE-A4474699E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2D16D-E8DA-4FC8-98E9-7C4628E0C160}" type="datetime1">
              <a:rPr lang="en-US" smtClean="0"/>
              <a:t>3/12/2025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36D4DA-ECB2-8308-68C5-679FEF96C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Sohid,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E90523-D713-D1FE-814D-D56839637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0240B-E716-4E10-A723-CC22E07D0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686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CA4BE-709A-48F8-A988-F09F8743D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7667AF-1C94-F631-3693-35811C2DAF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0E0FF-3094-39D7-C673-EF0C575C6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55211-A040-4687-A97A-1B0B1589756B}" type="datetime1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431A5A-7903-CB8A-959D-B0A67141E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Sohid,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40F39E-72B9-288B-A01E-D1057952E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0240B-E716-4E10-A723-CC22E07D0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00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3717BF-9613-AB12-BEF3-95C3AA51D9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3CA744-26C1-2ACC-E011-DE32C76B40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2F84DA-2EA0-D33E-2966-F4DA9A767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FAA3A-1B81-48C4-A798-0113F36D7D1C}" type="datetime1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4F183-2A77-80FE-63D6-86B7BCC71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Sohid,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B557E-1379-E9B7-A7B6-C587B4078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0240B-E716-4E10-A723-CC22E07D0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43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BE43B0-45EE-5A7B-24A6-F026B78BD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87A3BC-0EDA-B787-5089-82575859B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4A4DC4-0B8D-565E-740B-14060E1B3C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B426E6-6451-4851-BD2A-5D395F6DD10F}" type="datetime1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74B26-1F64-36BB-5E88-BB0925C867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Sohid,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7C5FB5-084E-2F54-09BA-0B1D415B84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10240B-E716-4E10-A723-CC22E07D0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603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7ECDECD-7AB2-691C-3798-96636EB4B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357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Network Security</a:t>
            </a:r>
            <a:br>
              <a:rPr lang="en-US" dirty="0">
                <a:solidFill>
                  <a:schemeClr val="accent1"/>
                </a:solidFill>
              </a:rPr>
            </a:b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5348976-C783-EA0D-6B9F-234F610ADD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Introduction to Cryptography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</a:rPr>
              <a:t>Definition: </a:t>
            </a:r>
            <a:r>
              <a:rPr lang="en-US" dirty="0"/>
              <a:t>Cryptography is the practice of securing communication using mathematical algorithms.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</a:rPr>
              <a:t>Origin: </a:t>
            </a:r>
            <a:r>
              <a:rPr lang="en-US" dirty="0"/>
              <a:t>Derived from Greek words "</a:t>
            </a:r>
            <a:r>
              <a:rPr lang="en-US" dirty="0" err="1"/>
              <a:t>kryptos</a:t>
            </a:r>
            <a:r>
              <a:rPr lang="en-US" dirty="0"/>
              <a:t>" (hidden) and "</a:t>
            </a:r>
            <a:r>
              <a:rPr lang="en-US" dirty="0" err="1"/>
              <a:t>grapho</a:t>
            </a:r>
            <a:r>
              <a:rPr lang="en-US" dirty="0"/>
              <a:t>" (writing).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</a:rPr>
              <a:t>Purpose: </a:t>
            </a:r>
            <a:r>
              <a:rPr lang="en-US" dirty="0"/>
              <a:t>Protects information from unauthorized access and tampering.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DC7953-222E-1C51-D218-6E3DDAAE3F78}"/>
              </a:ext>
            </a:extLst>
          </p:cNvPr>
          <p:cNvSpPr txBox="1"/>
          <p:nvPr/>
        </p:nvSpPr>
        <p:spPr>
          <a:xfrm>
            <a:off x="2854643" y="844034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dirty="0"/>
              <a:t>An Overview of Cryptographic Techniques and Cyber Threats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50B314D-3794-01A3-21F5-99FF406D3D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8990" y="12382"/>
            <a:ext cx="1223010" cy="1223010"/>
          </a:xfrm>
          <a:prstGeom prst="rect">
            <a:avLst/>
          </a:prstGeom>
        </p:spPr>
      </p:pic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C2A7611-E4E2-219D-FE28-A2B6EA28F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Sohid, CSE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4DE0D22-9C1F-640C-1852-7E7A4225A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0240B-E716-4E10-A723-CC22E07D080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701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4605AAE-D115-709D-0C21-511207DF2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Cryptographic Components</a:t>
            </a:r>
            <a:br>
              <a:rPr lang="en-US" dirty="0"/>
            </a:b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1CBF304-36E2-43B3-E99E-C7830F870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Plaintext:</a:t>
            </a:r>
            <a:r>
              <a:rPr lang="en-US" dirty="0"/>
              <a:t> The original message.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Encryption Algorithm:</a:t>
            </a:r>
            <a:r>
              <a:rPr lang="en-US" dirty="0"/>
              <a:t> Transforms plaintext into ciphertext.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Secret Key:</a:t>
            </a:r>
            <a:r>
              <a:rPr lang="en-US" dirty="0"/>
              <a:t> Used in encryption/decryption.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Ciphertext:</a:t>
            </a:r>
            <a:r>
              <a:rPr lang="en-US" dirty="0"/>
              <a:t> The encrypted message.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Decryption Algorithm:</a:t>
            </a:r>
            <a:r>
              <a:rPr lang="en-US" dirty="0"/>
              <a:t> Converts ciphertext back to plaintext.</a:t>
            </a:r>
          </a:p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AEA788-5ADF-E50E-CB6E-7AD8A21CF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Sohid,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537CF4-0441-9C6A-F081-C50A97207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0240B-E716-4E10-A723-CC22E07D0809}" type="slidenum">
              <a:rPr lang="en-US" smtClean="0"/>
              <a:t>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3673730-C06E-8121-DC7A-25E48BF9F9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8990" y="12382"/>
            <a:ext cx="1223010" cy="1223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014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F6499-B667-7ABE-14E7-349A444F6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9C40B4F-AD56-D8A7-B1B8-31CCC42D6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2933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Goals of Cryptography</a:t>
            </a:r>
            <a:br>
              <a:rPr lang="en-US" dirty="0">
                <a:solidFill>
                  <a:schemeClr val="accent1"/>
                </a:solidFill>
              </a:rPr>
            </a:b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870C4D4-C558-1B36-7371-EFB140BB0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Confidentiality:</a:t>
            </a:r>
            <a:r>
              <a:rPr lang="en-US" dirty="0"/>
              <a:t> Ensures data is accessible only to authorized parties.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Integrity:</a:t>
            </a:r>
            <a:r>
              <a:rPr lang="en-US" dirty="0"/>
              <a:t> Prevents unauthorized modification of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Availability:</a:t>
            </a:r>
            <a:r>
              <a:rPr lang="en-US" dirty="0"/>
              <a:t> Ensures timely access to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Authenticity:</a:t>
            </a:r>
            <a:r>
              <a:rPr lang="en-US" dirty="0"/>
              <a:t> Verifies sender identity.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Accountability:</a:t>
            </a:r>
            <a:r>
              <a:rPr lang="en-US" dirty="0"/>
              <a:t> Prevents denial of sending a message.</a:t>
            </a:r>
          </a:p>
          <a:p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0A2D501-6DCF-B5FF-31F5-22DF5D4D0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Sohid, CSE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DD5D09-4752-D49F-E9C7-25812657E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0240B-E716-4E10-A723-CC22E07D0809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A01FB9-82F6-5EFF-3DB0-22F1271A3B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8990" y="12382"/>
            <a:ext cx="1223010" cy="1223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516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71637-CFFC-76FD-F4DC-6ABD6F8F0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E3A4F82-AF30-912F-1871-2FEF7D4E2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Types of Cryptography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242D4C1-36BC-3E3C-768C-385DA0C92A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Symmetric-Key Cryptography:</a:t>
            </a:r>
            <a:r>
              <a:rPr lang="en-US" dirty="0"/>
              <a:t> Uses one key for both encryption and decryption.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Asymmetric-Key Cryptography:</a:t>
            </a:r>
            <a:r>
              <a:rPr lang="en-US" dirty="0"/>
              <a:t> Uses public and private keys for encryption and decryption.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Hash Functions:</a:t>
            </a:r>
            <a:r>
              <a:rPr lang="en-US" dirty="0"/>
              <a:t> Provides integrity by generating unique hashes for data.</a:t>
            </a:r>
          </a:p>
          <a:p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3ABEBC8-48C9-20D7-199E-1CEFB21A3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Sohid, CSE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E7B1B7-4E47-DEE3-70B2-81824840F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0240B-E716-4E10-A723-CC22E07D0809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632B7F-587F-F3A5-8110-19A51E4332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8990" y="12382"/>
            <a:ext cx="1223010" cy="1223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769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4D98E-6363-425F-0616-FAB403EB7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104315-CE1E-1348-07BE-D3040EA15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Types and difference of Cryptography:</a:t>
            </a:r>
            <a:br>
              <a:rPr lang="en-US" dirty="0">
                <a:solidFill>
                  <a:schemeClr val="accent1"/>
                </a:solidFill>
              </a:rPr>
            </a:b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2EFAD0D-BEF6-6457-8404-CF23AEC526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spcBef>
                <a:spcPts val="0"/>
              </a:spcBef>
            </a:pPr>
            <a:r>
              <a:rPr lang="en-US" sz="3600" b="0" i="0" u="none" strike="noStrike" dirty="0">
                <a:solidFill>
                  <a:srgbClr val="000000"/>
                </a:solidFill>
                <a:effectLst/>
                <a:latin typeface="+mj-lt"/>
              </a:rPr>
              <a:t>Cryptography can be broadly classified into several types based on the methods used to secure data. </a:t>
            </a:r>
          </a:p>
          <a:p>
            <a:pPr algn="just">
              <a:spcBef>
                <a:spcPts val="0"/>
              </a:spcBef>
            </a:pPr>
            <a:r>
              <a:rPr lang="en-US" sz="3600" b="0" i="0" u="none" strike="noStrike" dirty="0">
                <a:solidFill>
                  <a:srgbClr val="000000"/>
                </a:solidFill>
                <a:effectLst/>
                <a:latin typeface="+mj-lt"/>
              </a:rPr>
              <a:t>The two primary types are </a:t>
            </a:r>
            <a:r>
              <a:rPr lang="en-US" sz="3600" b="1" i="0" u="none" strike="noStrike" dirty="0">
                <a:solidFill>
                  <a:srgbClr val="000000"/>
                </a:solidFill>
                <a:effectLst/>
                <a:latin typeface="+mj-lt"/>
              </a:rPr>
              <a:t>symmetric-key cryptography</a:t>
            </a:r>
            <a:r>
              <a:rPr lang="en-US" sz="3600" b="0" i="0" u="none" strike="noStrike" dirty="0">
                <a:solidFill>
                  <a:srgbClr val="000000"/>
                </a:solidFill>
                <a:effectLst/>
                <a:latin typeface="+mj-lt"/>
              </a:rPr>
              <a:t> and </a:t>
            </a:r>
            <a:r>
              <a:rPr lang="en-US" sz="3600" b="1" i="0" u="none" strike="noStrike" dirty="0">
                <a:solidFill>
                  <a:srgbClr val="000000"/>
                </a:solidFill>
                <a:effectLst/>
                <a:latin typeface="+mj-lt"/>
              </a:rPr>
              <a:t>asymmetric-key cryptography</a:t>
            </a:r>
            <a:endParaRPr lang="en-US" sz="3600" b="0" i="0" u="none" strike="noStrike" dirty="0">
              <a:solidFill>
                <a:srgbClr val="000000"/>
              </a:solidFill>
              <a:effectLst/>
              <a:latin typeface="+mj-lt"/>
            </a:endParaRPr>
          </a:p>
          <a:p>
            <a:pPr algn="just">
              <a:spcBef>
                <a:spcPts val="0"/>
              </a:spcBef>
            </a:pPr>
            <a:r>
              <a:rPr lang="en-US" sz="3600" dirty="0">
                <a:solidFill>
                  <a:srgbClr val="000000"/>
                </a:solidFill>
                <a:latin typeface="+mj-lt"/>
              </a:rPr>
              <a:t>S</a:t>
            </a:r>
            <a:r>
              <a:rPr lang="en-US" sz="3600" b="0" i="0" u="none" strike="noStrike" dirty="0">
                <a:solidFill>
                  <a:srgbClr val="000000"/>
                </a:solidFill>
                <a:effectLst/>
                <a:latin typeface="+mj-lt"/>
              </a:rPr>
              <a:t>pecialized techniques like </a:t>
            </a:r>
            <a:r>
              <a:rPr lang="en-US" sz="3600" b="1" i="0" u="none" strike="noStrike" dirty="0">
                <a:solidFill>
                  <a:srgbClr val="000000"/>
                </a:solidFill>
                <a:effectLst/>
                <a:latin typeface="+mj-lt"/>
              </a:rPr>
              <a:t>hashing</a:t>
            </a:r>
            <a:r>
              <a:rPr lang="en-US" sz="3600" b="0" i="0" u="none" strike="noStrike" dirty="0">
                <a:solidFill>
                  <a:srgbClr val="000000"/>
                </a:solidFill>
                <a:effectLst/>
                <a:latin typeface="+mj-lt"/>
              </a:rPr>
              <a:t> and </a:t>
            </a:r>
            <a:r>
              <a:rPr lang="en-US" sz="3600" b="1" i="0" u="none" strike="noStrike" dirty="0">
                <a:solidFill>
                  <a:srgbClr val="000000"/>
                </a:solidFill>
                <a:effectLst/>
                <a:latin typeface="+mj-lt"/>
              </a:rPr>
              <a:t>digital signatures</a:t>
            </a:r>
            <a:r>
              <a:rPr lang="en-US" sz="3600" b="0" i="0" u="none" strike="noStrike" dirty="0">
                <a:solidFill>
                  <a:srgbClr val="000000"/>
                </a:solidFill>
                <a:effectLst/>
                <a:latin typeface="+mj-lt"/>
              </a:rPr>
              <a:t>.</a:t>
            </a:r>
            <a:endParaRPr lang="en-US" sz="4800" b="0" dirty="0">
              <a:effectLst/>
              <a:latin typeface="+mj-lt"/>
            </a:endParaRP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9738C3E-7F94-E7FF-99F8-236B124E2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Sohid, CSE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80D8A8-480B-57CA-F610-56087E4B5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0240B-E716-4E10-A723-CC22E07D0809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A35CFE-BF32-30DC-9FDB-8554C02295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8990" y="12382"/>
            <a:ext cx="1223010" cy="1223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257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406A4-833D-B1A9-733A-04B9A1F3C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77925"/>
          </a:xfrm>
        </p:spPr>
        <p:txBody>
          <a:bodyPr>
            <a:normAutofit fontScale="90000"/>
          </a:bodyPr>
          <a:lstStyle/>
          <a:p>
            <a:pPr algn="ctr"/>
            <a:br>
              <a:rPr lang="en-US" sz="4400" b="0" u="none" strike="noStrike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</a:br>
            <a:r>
              <a:rPr lang="en-US" sz="4400" b="0" u="none" strike="noStrike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S</a:t>
            </a:r>
            <a:r>
              <a:rPr lang="en-US" sz="4400" b="1" u="none" strike="noStrike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ymmetric-Key Cryptography (Secret Key Cryptography)</a:t>
            </a:r>
            <a:br>
              <a:rPr lang="en-US" b="1" dirty="0">
                <a:effectLst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4ADEF-F357-275A-4EA5-156DB3AF6B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rtl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In symmetric-key cryptography, the</a:t>
            </a: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same key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is used for both encryption and decryption. This means that both the sender and the recipient must share the secret </a:t>
            </a: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key before communication can take plac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e. Symmetric-key cryptography is fast and efficient, making it ideal for encrypting large amounts of data.</a:t>
            </a:r>
            <a:endParaRPr lang="en-US" sz="4000" b="0" dirty="0">
              <a:effectLst/>
            </a:endParaRPr>
          </a:p>
          <a:p>
            <a:pPr rtl="0" fontAlgn="base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Examples of Symmetric Algorithms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:</a:t>
            </a:r>
          </a:p>
          <a:p>
            <a:pPr marL="742950" lvl="1" indent="-285750" rtl="0" fontAlgn="base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AES (Advanced Encryption Standard)</a:t>
            </a:r>
            <a:endParaRPr lang="en-US" sz="18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742950" lvl="1" indent="-285750" rtl="0" fontAlgn="base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DES (Data Encryption Standard)</a:t>
            </a:r>
            <a:endParaRPr lang="en-US" sz="18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742950" lvl="1" indent="-285750" rtl="0" fontAlgn="base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RC4</a:t>
            </a:r>
            <a:endParaRPr lang="en-US" sz="18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742950" lvl="1" indent="-285750" rtl="0" fontAlgn="base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3DES (Triple DES)</a:t>
            </a:r>
            <a:endParaRPr lang="en-US" sz="18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rtl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Advantages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:</a:t>
            </a:r>
            <a:endParaRPr lang="en-US" sz="4000" b="0" dirty="0">
              <a:effectLst/>
            </a:endParaRPr>
          </a:p>
          <a:p>
            <a:pPr rtl="0" fontAlgn="base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Faster and more efficient, especially for encrypting large amounts of data.</a:t>
            </a:r>
          </a:p>
          <a:p>
            <a:pPr rtl="0" fontAlgn="base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Suitable for bulk data encryption.</a:t>
            </a:r>
          </a:p>
          <a:p>
            <a:pPr rtl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Disadvantages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:</a:t>
            </a:r>
            <a:endParaRPr lang="en-US" sz="4000" b="0" dirty="0">
              <a:effectLst/>
            </a:endParaRPr>
          </a:p>
          <a:p>
            <a:pPr rtl="0" fontAlgn="base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Key distribution is a challenge, as the key must be securely shared between the parties involved.</a:t>
            </a:r>
          </a:p>
          <a:p>
            <a:pPr rtl="0" fontAlgn="base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If the key is intercepted, the communication is compromised.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447842-5190-C86C-1532-DDC6DCCBD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Sohid, CSE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5D3B8D-5774-2DD3-7996-1EC642617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0240B-E716-4E10-A723-CC22E07D0809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6A2DAB-AB39-10FA-12F5-3ECFF29BDD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8990" y="12382"/>
            <a:ext cx="1223010" cy="1223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553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2805D-6399-4118-ED41-74C54865E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0765"/>
          </a:xfrm>
        </p:spPr>
        <p:txBody>
          <a:bodyPr>
            <a:normAutofit fontScale="90000"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</a:rPr>
            </a:br>
            <a:r>
              <a:rPr lang="en-US" b="1" dirty="0">
                <a:solidFill>
                  <a:srgbClr val="00B050"/>
                </a:solidFill>
              </a:rPr>
              <a:t>Asymmetric-Key Cryptography (Public Key Cryptography)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77FFE-80F3-F0C5-AC24-B3117C20A5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 asymmetric cryptography, </a:t>
            </a:r>
            <a:r>
              <a:rPr lang="en-US" dirty="0">
                <a:solidFill>
                  <a:srgbClr val="0070C0"/>
                </a:solidFill>
              </a:rPr>
              <a:t>there are two keys: a public key and a private key</a:t>
            </a:r>
            <a:r>
              <a:rPr lang="en-US" dirty="0"/>
              <a:t>. </a:t>
            </a:r>
            <a:r>
              <a:rPr lang="en-US" dirty="0">
                <a:solidFill>
                  <a:srgbClr val="0070C0"/>
                </a:solidFill>
              </a:rPr>
              <a:t>The public key is used to encrypt the message</a:t>
            </a:r>
            <a:r>
              <a:rPr lang="en-US" dirty="0"/>
              <a:t>, and the </a:t>
            </a:r>
            <a:r>
              <a:rPr lang="en-US" dirty="0">
                <a:solidFill>
                  <a:srgbClr val="0070C0"/>
                </a:solidFill>
              </a:rPr>
              <a:t>private key is used to decrypt it</a:t>
            </a:r>
            <a:r>
              <a:rPr lang="en-US" dirty="0"/>
              <a:t>. The public key can be freely shared with anyone, while the private key must remain secret. This method allows secure communication between parties who have never shared a key in advance.</a:t>
            </a:r>
          </a:p>
          <a:p>
            <a:r>
              <a:rPr lang="en-US" dirty="0"/>
              <a:t>Examples of Asymmetric Algorithms:</a:t>
            </a:r>
          </a:p>
          <a:p>
            <a:r>
              <a:rPr lang="en-US" dirty="0"/>
              <a:t>RSA (Rivest-Shamir-Adleman)</a:t>
            </a:r>
          </a:p>
          <a:p>
            <a:r>
              <a:rPr lang="en-US" dirty="0"/>
              <a:t>ECC (Elliptic Curve Cryptography)</a:t>
            </a:r>
          </a:p>
          <a:p>
            <a:r>
              <a:rPr lang="en-US" dirty="0"/>
              <a:t>DSA (Digital Signature Algorithm)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D864F7-4A24-7718-1903-2D67BA373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Sohid, CSE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F89F07-FD52-66A3-6ABA-5ACC22C92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0240B-E716-4E10-A723-CC22E07D0809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FAD743-C96A-DA50-C2E3-9AE1B05E73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8990" y="12382"/>
            <a:ext cx="1223010" cy="1223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175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8CBCE-7840-7F39-22AD-27F993F7F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5045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Contd</a:t>
            </a:r>
            <a:r>
              <a:rPr lang="en-US" dirty="0"/>
              <a:t>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4CED1-3F0F-EFD3-1283-CCE4BB651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3010"/>
            <a:ext cx="10515600" cy="4953953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Advantages:</a:t>
            </a:r>
          </a:p>
          <a:p>
            <a:r>
              <a:rPr lang="en-US" dirty="0"/>
              <a:t>Solves the problem of key distribution because only the public key is shared.</a:t>
            </a:r>
          </a:p>
          <a:p>
            <a:r>
              <a:rPr lang="en-US" dirty="0"/>
              <a:t>Provides mechanisms for digital signatures, allowing for authentication and non-repudiation.</a:t>
            </a:r>
          </a:p>
          <a:p>
            <a:r>
              <a:rPr lang="en-US" dirty="0">
                <a:solidFill>
                  <a:schemeClr val="accent1"/>
                </a:solidFill>
              </a:rPr>
              <a:t>Disadvantages:</a:t>
            </a:r>
          </a:p>
          <a:p>
            <a:r>
              <a:rPr lang="en-US" dirty="0"/>
              <a:t>Slower than symmetric-key encryption, which makes it less efficient for encrypting large volumes of data.</a:t>
            </a:r>
          </a:p>
          <a:p>
            <a:r>
              <a:rPr lang="en-US" dirty="0"/>
              <a:t>Requires more computational resources.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B8EC58-44FA-629C-15E1-297D84A06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Sohid, CSE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A5FA6B-2A77-F7E4-632F-EB59EBCF4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0240B-E716-4E10-A723-CC22E07D0809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7A6046-C74F-8F9D-6B8C-D5E55E9750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8990" y="12382"/>
            <a:ext cx="1223010" cy="1223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299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A0091-DBBF-B54B-CE6E-E03FEC7D9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23645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RSA algorithm: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4704F-683F-13FB-67DE-2882BFE63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Step 1:</a:t>
            </a:r>
            <a:r>
              <a:rPr lang="en-US" dirty="0"/>
              <a:t> Select two large prime numbers (p, q).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Step 2:</a:t>
            </a:r>
            <a:r>
              <a:rPr lang="en-US" dirty="0"/>
              <a:t> Compute n = p × q.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Step 3:</a:t>
            </a:r>
            <a:r>
              <a:rPr lang="en-US" dirty="0"/>
              <a:t> Calculate </a:t>
            </a:r>
            <a:r>
              <a:rPr lang="el-GR" dirty="0"/>
              <a:t>φ(</a:t>
            </a:r>
            <a:r>
              <a:rPr lang="en-US" dirty="0"/>
              <a:t>n) = (p - 1) × (q - 1).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Step 4:</a:t>
            </a:r>
            <a:r>
              <a:rPr lang="en-US" dirty="0"/>
              <a:t> Choose an encryption key e such that 1 &lt; e &lt; </a:t>
            </a:r>
            <a:r>
              <a:rPr lang="el-GR" dirty="0"/>
              <a:t>φ(</a:t>
            </a:r>
            <a:r>
              <a:rPr lang="en-US" dirty="0"/>
              <a:t>n) and </a:t>
            </a:r>
            <a:r>
              <a:rPr lang="en-US" dirty="0" err="1"/>
              <a:t>gcd</a:t>
            </a:r>
            <a:r>
              <a:rPr lang="en-US" dirty="0"/>
              <a:t>(e, </a:t>
            </a:r>
            <a:r>
              <a:rPr lang="el-GR" dirty="0"/>
              <a:t>φ(</a:t>
            </a:r>
            <a:r>
              <a:rPr lang="en-US" dirty="0"/>
              <a:t>n)) = 1.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Step 5:</a:t>
            </a:r>
            <a:r>
              <a:rPr lang="en-US" dirty="0"/>
              <a:t> Compute the decryption key d such that (d × e) mod </a:t>
            </a:r>
            <a:r>
              <a:rPr lang="el-GR" dirty="0"/>
              <a:t>φ(</a:t>
            </a:r>
            <a:r>
              <a:rPr lang="en-US" dirty="0"/>
              <a:t>n) = 1.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Step 6:</a:t>
            </a:r>
            <a:r>
              <a:rPr lang="en-US" dirty="0"/>
              <a:t> Public Key = (e, n), Private Key = (d, n).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Encryption:</a:t>
            </a:r>
            <a:r>
              <a:rPr lang="en-US" dirty="0"/>
              <a:t> Ciphertext C = </a:t>
            </a:r>
            <a:r>
              <a:rPr lang="en-US" dirty="0" err="1"/>
              <a:t>M^e</a:t>
            </a:r>
            <a:r>
              <a:rPr lang="en-US" dirty="0"/>
              <a:t> mod 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Decryption:</a:t>
            </a:r>
            <a:r>
              <a:rPr lang="en-US" dirty="0"/>
              <a:t> Plaintext M = </a:t>
            </a:r>
            <a:r>
              <a:rPr lang="en-US" dirty="0" err="1"/>
              <a:t>C^d</a:t>
            </a:r>
            <a:r>
              <a:rPr lang="en-US" dirty="0"/>
              <a:t> mod n.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7A6D57-17B7-35A0-4CB9-FAE7BB7EF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Sohid, CSE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399CB0-9F07-67FD-7CF3-BDD9916BB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0240B-E716-4E10-A723-CC22E07D0809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B2EA10-7F55-2488-AD4A-77B6F42796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8990" y="12382"/>
            <a:ext cx="1223010" cy="1223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565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D634B-2473-492E-8305-60FF43D17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Hello using RSA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C75A7-B5F8-1560-DD9E-EF29F71F0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Encrypted Message: b'"7\x05\</a:t>
            </a:r>
            <a:r>
              <a:rPr lang="en-US" dirty="0" err="1"/>
              <a:t>xdf</a:t>
            </a:r>
            <a:r>
              <a:rPr lang="en-US" dirty="0"/>
              <a:t>\x7f}"\x9e\xa1\x96\xf7\</a:t>
            </a:r>
            <a:r>
              <a:rPr lang="en-US" dirty="0" err="1"/>
              <a:t>xfd</a:t>
            </a:r>
            <a:r>
              <a:rPr lang="en-US" dirty="0"/>
              <a:t>:\</a:t>
            </a:r>
            <a:r>
              <a:rPr lang="en-US" dirty="0" err="1"/>
              <a:t>xbbW</a:t>
            </a:r>
            <a:r>
              <a:rPr lang="en-US" dirty="0"/>
              <a:t>\</a:t>
            </a:r>
            <a:r>
              <a:rPr lang="en-US" dirty="0" err="1"/>
              <a:t>xed</a:t>
            </a:r>
            <a:r>
              <a:rPr lang="en-US" dirty="0"/>
              <a:t>\x00\x85\xd4O\xb0\</a:t>
            </a:r>
            <a:r>
              <a:rPr lang="en-US" dirty="0" err="1"/>
              <a:t>xad</a:t>
            </a:r>
            <a:r>
              <a:rPr lang="en-US" dirty="0"/>
              <a:t>\x89\x1b\x11\xa5A\xb1&amp;=\xb2\x89\x064\xb7\</a:t>
            </a:r>
            <a:r>
              <a:rPr lang="en-US" dirty="0" err="1"/>
              <a:t>xfc</a:t>
            </a:r>
            <a:r>
              <a:rPr lang="en-US" dirty="0"/>
              <a:t>\xa9\x1d\xd2\xf8~\xd5j5\x8d\</a:t>
            </a:r>
            <a:r>
              <a:rPr lang="en-US" dirty="0" err="1"/>
              <a:t>xda</a:t>
            </a:r>
            <a:r>
              <a:rPr lang="en-US" dirty="0"/>
              <a:t>\x95o\xb1\x9b\xe4\x92\xa0\</a:t>
            </a:r>
            <a:r>
              <a:rPr lang="en-US" dirty="0" err="1"/>
              <a:t>xdb</a:t>
            </a:r>
            <a:r>
              <a:rPr lang="en-US" dirty="0"/>
              <a:t>\xea0\x93\xa0~e\xa5\</a:t>
            </a:r>
            <a:r>
              <a:rPr lang="en-US" dirty="0" err="1"/>
              <a:t>xfdEX</a:t>
            </a:r>
            <a:r>
              <a:rPr lang="en-US" dirty="0"/>
              <a:t>\x86\xc4\x07B\xd5e[j\</a:t>
            </a:r>
            <a:r>
              <a:rPr lang="en-US" dirty="0" err="1"/>
              <a:t>xfb</a:t>
            </a:r>
            <a:r>
              <a:rPr lang="en-US" dirty="0"/>
              <a:t>\xb2&amp;d\xd9\xf2\x11\xe3\x07p\x97$\xe0s\xd8\x98\xc6.\xa4\xe6\x05\xe8d(XTL7\x8dbSp\xd4\x88$\</a:t>
            </a:r>
            <a:r>
              <a:rPr lang="en-US" dirty="0" err="1"/>
              <a:t>xab</a:t>
            </a:r>
            <a:r>
              <a:rPr lang="en-US" dirty="0"/>
              <a:t>\</a:t>
            </a:r>
            <a:r>
              <a:rPr lang="en-US" dirty="0" err="1"/>
              <a:t>xbb</a:t>
            </a:r>
            <a:r>
              <a:rPr lang="en-US" dirty="0"/>
              <a:t>\x8a\xc4\</a:t>
            </a:r>
            <a:r>
              <a:rPr lang="en-US" dirty="0" err="1"/>
              <a:t>xbc</a:t>
            </a:r>
            <a:r>
              <a:rPr lang="en-US" dirty="0"/>
              <a:t>\</a:t>
            </a:r>
            <a:r>
              <a:rPr lang="en-US" dirty="0" err="1"/>
              <a:t>xdc</a:t>
            </a:r>
            <a:r>
              <a:rPr lang="en-US" dirty="0"/>
              <a:t>\xd5g\x83\</a:t>
            </a:r>
            <a:r>
              <a:rPr lang="en-US" dirty="0" err="1"/>
              <a:t>xdc</a:t>
            </a:r>
            <a:r>
              <a:rPr lang="en-US" dirty="0"/>
              <a:t>\xf6Q\x1b\</a:t>
            </a:r>
            <a:r>
              <a:rPr lang="en-US" dirty="0" err="1"/>
              <a:t>xda</a:t>
            </a:r>
            <a:r>
              <a:rPr lang="en-US" dirty="0"/>
              <a:t>\x94]G\xf4\xd7F\xd5'</a:t>
            </a:r>
          </a:p>
          <a:p>
            <a:r>
              <a:rPr lang="en-US" dirty="0"/>
              <a:t>Decrypted Message: Hello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1FCEA0-5CF9-D8C2-E879-971FCFFF0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Sohid, CSE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945665-AD62-EDC2-DDAE-E1E547688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0240B-E716-4E10-A723-CC22E07D080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31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A56B9-3A2C-7575-916E-38F40D6B5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Types of Attacks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4C707-8262-61C4-9D2C-BD77070538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00B050"/>
                </a:solidFill>
              </a:rPr>
              <a:t>Active Attacks: </a:t>
            </a:r>
            <a:r>
              <a:rPr lang="en-US" sz="3600" dirty="0"/>
              <a:t>Involves modification of data.</a:t>
            </a:r>
          </a:p>
          <a:p>
            <a:r>
              <a:rPr lang="en-US" sz="3600" dirty="0">
                <a:solidFill>
                  <a:srgbClr val="00B050"/>
                </a:solidFill>
              </a:rPr>
              <a:t>Passive Attacks: </a:t>
            </a:r>
            <a:r>
              <a:rPr lang="en-US" sz="3600" dirty="0"/>
              <a:t>Involves eavesdropping or monitoring.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B83308-53B6-9A33-918B-C468C2E2C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Sohid, CSE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008B92-FBED-B752-722A-26065B92F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0240B-E716-4E10-A723-CC22E07D0809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AE74BA-220D-A5DD-02AD-60385C0F27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8990" y="12382"/>
            <a:ext cx="1223010" cy="1223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7021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9D06F-0595-A94C-0C65-64489135E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725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Active Attacks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9135B-8D51-69A9-D7AB-CF68A7141D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8730"/>
            <a:ext cx="10515600" cy="4908233"/>
          </a:xfrm>
        </p:spPr>
        <p:txBody>
          <a:bodyPr>
            <a:normAutofit/>
          </a:bodyPr>
          <a:lstStyle/>
          <a:p>
            <a:pPr rtl="0" fontAlgn="base">
              <a:spcBef>
                <a:spcPts val="1400"/>
              </a:spcBef>
              <a:buFont typeface="+mj-lt"/>
              <a:buAutoNum type="arabicPeriod"/>
            </a:pPr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Modification of Data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: In this case, an attacker intercepts data and alters it in transit, which could be an example of a </a:t>
            </a:r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man-in-the-middle attack (MITM)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</a:t>
            </a:r>
          </a:p>
          <a:p>
            <a:pPr rtl="0" fontAlgn="base">
              <a:buFont typeface="+mj-lt"/>
              <a:buAutoNum type="arabicPeriod"/>
            </a:pPr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Denial of Service (DoS)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: These attacks flood the target system with excessive requests, rendering the service unavailable to legitimate users.</a:t>
            </a:r>
          </a:p>
          <a:p>
            <a:pPr rtl="0" fontAlgn="base">
              <a:buFont typeface="+mj-lt"/>
              <a:buAutoNum type="arabicPeriod"/>
            </a:pPr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Replay Attack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: An attacker intercepts and then retransmits a valid data transmission, usually to gain unauthorized access or confuse the system.</a:t>
            </a:r>
          </a:p>
          <a:p>
            <a:pPr rtl="0" fontAlgn="base">
              <a:spcAft>
                <a:spcPts val="1400"/>
              </a:spcAft>
              <a:buFont typeface="+mj-lt"/>
              <a:buAutoNum type="arabicPeriod"/>
            </a:pPr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Masquerading/Impersonation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: The attacker pretends to be someone else by using a forged identity (e.g., falsifying the source address).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233002-008F-4FC3-5CDB-EE0DB8D73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Sohid, CSE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4D1B52-716B-EFB0-4A02-83C4D7BB8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0240B-E716-4E10-A723-CC22E07D0809}" type="slidenum">
              <a:rPr lang="en-US" smtClean="0"/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D63C21-C202-7A33-4ED9-8DD5EED4DA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8990" y="12382"/>
            <a:ext cx="1223010" cy="1223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2757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80444-EDD4-280A-FC24-C60456E08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6445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Passive attack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EFE42-B075-8B3C-50BC-3E52F2568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1570"/>
            <a:ext cx="10515600" cy="504539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A passive attack involves eavesdropping or monitoring communication or data flows without altering the data or the system.</a:t>
            </a:r>
          </a:p>
          <a:p>
            <a:pPr algn="just"/>
            <a:r>
              <a:rPr lang="en-US" dirty="0">
                <a:solidFill>
                  <a:schemeClr val="accent1"/>
                </a:solidFill>
              </a:rPr>
              <a:t>Interception: </a:t>
            </a:r>
            <a:r>
              <a:rPr lang="en-US" dirty="0"/>
              <a:t>This is the most common form of passive attack, where an attacker secretly listens in on communications or traffic to gain access to sensitive information (like passwords or private messages).</a:t>
            </a:r>
          </a:p>
          <a:p>
            <a:pPr algn="just"/>
            <a:r>
              <a:rPr lang="en-US" dirty="0">
                <a:solidFill>
                  <a:schemeClr val="accent1"/>
                </a:solidFill>
              </a:rPr>
              <a:t>Traffic Analysis: </a:t>
            </a:r>
            <a:r>
              <a:rPr lang="en-US" dirty="0"/>
              <a:t>Even without knowing the exact contents of the messages, an attacker can analyze traffic patterns to infer important details like communication frequency, timing, and sender/receiver identity.</a:t>
            </a:r>
          </a:p>
          <a:p>
            <a:pPr marL="0" indent="0" algn="just">
              <a:buNone/>
            </a:pPr>
            <a:r>
              <a:rPr lang="en-US" sz="2400" i="1" dirty="0"/>
              <a:t>In passive attacks, the attacker does not affect the data itself but may still gather enough information to later execute active attacks or gain unauthorized access.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00CD96-9EFA-3088-F96F-BCE7F490E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Candara" panose="020E0502030303020204" pitchFamily="34" charset="0"/>
              </a:rPr>
              <a:t>Dr. </a:t>
            </a:r>
            <a:r>
              <a:rPr lang="en-US" dirty="0" err="1">
                <a:latin typeface="Candara" panose="020E0502030303020204" pitchFamily="34" charset="0"/>
              </a:rPr>
              <a:t>Sohid</a:t>
            </a:r>
            <a:r>
              <a:rPr lang="en-US" dirty="0">
                <a:latin typeface="Candara" panose="020E0502030303020204" pitchFamily="34" charset="0"/>
              </a:rPr>
              <a:t>, CSE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81456B-E426-6244-46B4-60C882E74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0240B-E716-4E10-A723-CC22E07D0809}" type="slidenum">
              <a:rPr lang="en-US" smtClean="0"/>
              <a:t>13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76E633-EE98-0E4A-0DB6-7F4A005FAC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8990" y="12382"/>
            <a:ext cx="1223010" cy="1223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767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1373</TotalTime>
  <Words>1169</Words>
  <Application>Microsoft Office PowerPoint</Application>
  <PresentationFormat>Widescreen</PresentationFormat>
  <Paragraphs>104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Candara</vt:lpstr>
      <vt:lpstr>Times New Roman</vt:lpstr>
      <vt:lpstr>Office Theme</vt:lpstr>
      <vt:lpstr>Network Security </vt:lpstr>
      <vt:lpstr>Cryptographic Components </vt:lpstr>
      <vt:lpstr>Goals of Cryptography </vt:lpstr>
      <vt:lpstr>Types of Cryptography</vt:lpstr>
      <vt:lpstr>Types and difference of Cryptography: </vt:lpstr>
      <vt:lpstr> Symmetric-Key Cryptography (Secret Key Cryptography) </vt:lpstr>
      <vt:lpstr> Asymmetric-Key Cryptography (Public Key Cryptography) </vt:lpstr>
      <vt:lpstr>Contd..</vt:lpstr>
      <vt:lpstr>RSA algorithm: </vt:lpstr>
      <vt:lpstr>Hello using RSA</vt:lpstr>
      <vt:lpstr>Types of Attacks</vt:lpstr>
      <vt:lpstr>Active Attacks</vt:lpstr>
      <vt:lpstr>Passive attack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Md. Sohidul Islam RIRU</dc:creator>
  <cp:lastModifiedBy>Md. Sohidul Islam RIRU</cp:lastModifiedBy>
  <cp:revision>17</cp:revision>
  <dcterms:created xsi:type="dcterms:W3CDTF">2025-03-10T07:33:48Z</dcterms:created>
  <dcterms:modified xsi:type="dcterms:W3CDTF">2025-03-12T04:48:09Z</dcterms:modified>
</cp:coreProperties>
</file>